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58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pic>
        <p:nvPicPr>
          <p:cNvPr id="6" name="Image 0" descr="D:/CodeArena/src/main/resources/images/logo-fu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640080"/>
            <a:ext cx="1051560" cy="1051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859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CODEARENA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3504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BED0"/>
                </a:solidFill>
              </a:rPr>
              <a:t>Software Design &amp; Analysis Project Demo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5603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Local coding arena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with judge, battles, badges, squads and admin tools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03504" y="3968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5EA"/>
                </a:solidFill>
              </a:rPr>
              <a:t>Developed by Zeeshan Azeem, Sharjeel Ali Khan and Abdul Kabeer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56832" y="1170432"/>
            <a:ext cx="4837176" cy="3099816"/>
          </a:xfrm>
          <a:prstGeom prst="roundRect">
            <a:avLst>
              <a:gd name="adj" fmla="val 1475"/>
            </a:avLst>
          </a:prstGeom>
          <a:solidFill>
            <a:srgbClr val="FFFFFF">
              <a:alpha val="0"/>
            </a:srgbClr>
          </a:solidFill>
          <a:ln w="12700">
            <a:solidFill>
              <a:srgbClr val="28466E"/>
            </a:solidFill>
            <a:prstDash val="solid"/>
          </a:ln>
        </p:spPr>
      </p:sp>
      <p:pic>
        <p:nvPicPr>
          <p:cNvPr id="12" name="Image 1" descr="D:/CodeArena/src/main/resources/images/title_scree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1188720"/>
            <a:ext cx="4800600" cy="3063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5148072"/>
            <a:ext cx="0" cy="658368"/>
          </a:xfrm>
          <a:prstGeom prst="line">
            <a:avLst/>
          </a:prstGeom>
          <a:noFill/>
          <a:ln w="12700">
            <a:solidFill>
              <a:srgbClr val="F47C1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" y="5120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JavaFX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04672" y="54681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Desktop UI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04672" y="56418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no web layer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2423160" y="5148072"/>
            <a:ext cx="0" cy="658368"/>
          </a:xfrm>
          <a:prstGeom prst="line">
            <a:avLst/>
          </a:prstGeom>
          <a:noFill/>
          <a:ln w="12700">
            <a:solidFill>
              <a:srgbClr val="18CD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69464" y="5120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SQLite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569464" y="54681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Local data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569464" y="56418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schema + seed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187952" y="5148072"/>
            <a:ext cx="0" cy="658368"/>
          </a:xfrm>
          <a:prstGeom prst="line">
            <a:avLst/>
          </a:prstGeom>
          <a:noFill/>
          <a:ln w="12700">
            <a:solidFill>
              <a:srgbClr val="B832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34256" y="5120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Judge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334256" y="54681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ProcessBuilder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334256" y="56418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Java + Python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5943600" y="5148072"/>
            <a:ext cx="0" cy="658368"/>
          </a:xfrm>
          <a:prstGeom prst="line">
            <a:avLst/>
          </a:prstGeom>
          <a:noFill/>
          <a:ln w="12700">
            <a:solidFill>
              <a:srgbClr val="1BBF7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89904" y="5120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Tests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089904" y="54681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JUnit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089904" y="56418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service + judge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PROJECT SNAPSHOT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CodeArena is a complete local competitive-coding desktop system.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The project is designed as a practical Software Design and Analysis implementation.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842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18"/>
                </a:solidFill>
              </a:rPr>
              <a:t>Application 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48840" y="19476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40D"/>
                </a:solidFill>
              </a:rPr>
              <a:t>Local JavaFX desktop application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532888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4261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18"/>
                </a:solidFill>
              </a:rPr>
              <a:t>Primary users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260604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40D"/>
                </a:solidFill>
              </a:rPr>
              <a:t>Coders, guests and admin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191256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0098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18"/>
                </a:solidFill>
              </a:rPr>
              <a:t>Persistence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48840" y="326440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40D"/>
                </a:solidFill>
              </a:rPr>
              <a:t>SQLite with schema + seed initialization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849624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593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18"/>
                </a:solidFill>
              </a:rPr>
              <a:t>Judge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48840" y="392277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40D"/>
                </a:solidFill>
              </a:rPr>
              <a:t>Local ProcessBuilder execution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507992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1772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18"/>
                </a:solidFill>
              </a:rPr>
              <a:t>Main modules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48840" y="45811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40D"/>
                </a:solidFill>
              </a:rPr>
              <a:t>Problems, submissions, battles, squads, badges, admin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18745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8E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40D"/>
                </a:solidFill>
              </a:rPr>
              <a:t>What makes it demo-worthy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99632" y="277063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7249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1140D"/>
                </a:solidFill>
              </a:rPr>
              <a:t>End-to-end flow from login to judged submission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199632" y="317296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1272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1140D"/>
                </a:solidFill>
              </a:rPr>
              <a:t>Admin tools for users, problems, tests and submissions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199632" y="3575304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5295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1140D"/>
                </a:solidFill>
              </a:rPr>
              <a:t>Gamified profile with charts and badges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99632" y="3977640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9319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1140D"/>
                </a:solidFill>
              </a:rPr>
              <a:t>Multiple battle modes and squad support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199632" y="4379976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33425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1140D"/>
                </a:solidFill>
              </a:rPr>
              <a:t>Clean package separation and automated tests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CDE8"/>
                </a:solidFill>
              </a:rPr>
              <a:t>PROBLEM AND OBJECTIVES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The project turns manual coding practice into a structured local arena.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ED0"/>
                </a:solidFill>
              </a:rPr>
              <a:t>Manual checking is slow; online judges are too broad for a classroom desktop project.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4983480" cy="3383280"/>
          </a:xfrm>
          <a:prstGeom prst="roundRect">
            <a:avLst>
              <a:gd name="adj" fmla="val 2162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Problem addressed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614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Students need fast feedback on code without external hosting.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00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Teachers/admins need a way to manage problems and test cases.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68503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393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Progress should be visible through XP, badges and leaderboards.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123944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782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Competition should be possible locally through battle modes.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4892040" cy="3383280"/>
          </a:xfrm>
          <a:prstGeom prst="roundRect">
            <a:avLst>
              <a:gd name="adj" fmla="val 2162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Design goals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37960" y="2807208"/>
            <a:ext cx="82296" cy="82296"/>
          </a:xfrm>
          <a:prstGeom prst="ellipse">
            <a:avLst/>
          </a:prstGeom>
          <a:solidFill>
            <a:srgbClr val="18CDE8"/>
          </a:solidFill>
          <a:ln w="12700">
            <a:solidFill>
              <a:srgbClr val="18C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7614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Layered architecture: UI, service, DAO, model, judge, util.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3246120"/>
            <a:ext cx="82296" cy="82296"/>
          </a:xfrm>
          <a:prstGeom prst="ellipse">
            <a:avLst/>
          </a:prstGeom>
          <a:solidFill>
            <a:srgbClr val="18CDE8"/>
          </a:solidFill>
          <a:ln w="12700">
            <a:solidFill>
              <a:srgbClr val="18C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Local SQLite persistence with reproducible seed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3685032"/>
            <a:ext cx="82296" cy="82296"/>
          </a:xfrm>
          <a:prstGeom prst="ellipse">
            <a:avLst/>
          </a:prstGeom>
          <a:solidFill>
            <a:srgbClr val="18CDE8"/>
          </a:solidFill>
          <a:ln w="12700">
            <a:solidFill>
              <a:srgbClr val="18C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639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Safe judge execution with timeouts and cleanup.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4123944"/>
            <a:ext cx="82296" cy="82296"/>
          </a:xfrm>
          <a:prstGeom prst="ellipse">
            <a:avLst/>
          </a:prstGeom>
          <a:solidFill>
            <a:srgbClr val="18CDE8"/>
          </a:solidFill>
          <a:ln w="12700">
            <a:solidFill>
              <a:srgbClr val="18C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0782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Attractive JavaFX UI with dark/light themes.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1" y="9331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USE CASES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The system covers the full coder, guest and admin workflow.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Main flows map directly to application screens and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" y="1717206"/>
            <a:ext cx="5532120" cy="4407408"/>
          </a:xfrm>
          <a:prstGeom prst="roundRect">
            <a:avLst>
              <a:gd name="adj" fmla="val 1660"/>
            </a:avLst>
          </a:prstGeom>
          <a:solidFill>
            <a:srgbClr val="FFF0D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685032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572768"/>
            <a:ext cx="4617720" cy="4407408"/>
          </a:xfrm>
          <a:prstGeom prst="roundRect">
            <a:avLst>
              <a:gd name="adj" fmla="val 1660"/>
            </a:avLst>
          </a:prstGeom>
          <a:solidFill>
            <a:srgbClr val="FFF8E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40D"/>
                </a:solidFill>
              </a:rPr>
              <a:t>Primary use cases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48272" y="244144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3957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Register / login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748272" y="2825496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7797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Browse and solve problems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748272" y="3209544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31638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Run and submit code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748272" y="359359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5478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Earn XP and badges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748272" y="3977640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Start or join battles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748272" y="436168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315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Create or join squads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748272" y="4745736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4700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1140D"/>
                </a:solidFill>
              </a:rPr>
              <a:t>Admin manage users, problems and submissions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04</a:t>
            </a:r>
            <a:endParaRPr lang="en-US" sz="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EE9FF7E-BF68-887F-6AD0-4EF92C7B3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68" y="2029968"/>
            <a:ext cx="5313887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CDE8"/>
                </a:solidFill>
              </a:rPr>
              <a:t>FEATURE MAP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CodeArena combines practice, competition, progress and administration.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ED0"/>
                </a:solidFill>
              </a:rPr>
              <a:t>The features are grouped around the real demo journey.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792224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020824"/>
            <a:ext cx="0" cy="585216"/>
          </a:xfrm>
          <a:prstGeom prst="line">
            <a:avLst/>
          </a:prstGeom>
          <a:noFill/>
          <a:ln w="12700">
            <a:solidFill>
              <a:srgbClr val="F47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Practice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8D5EA"/>
                </a:solidFill>
              </a:rPr>
              <a:t>Problem list, details, samples, code editor and submissions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462272" y="1792224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020824"/>
            <a:ext cx="0" cy="585216"/>
          </a:xfrm>
          <a:prstGeom prst="line">
            <a:avLst/>
          </a:prstGeom>
          <a:noFill/>
          <a:ln w="12700">
            <a:solidFill>
              <a:srgbClr val="18C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Judge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8D5EA"/>
                </a:solidFill>
              </a:rPr>
              <a:t>Java/Python execution, verdicts, runtime and cleanup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11312" y="1792224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020824"/>
            <a:ext cx="0" cy="585216"/>
          </a:xfrm>
          <a:prstGeom prst="line">
            <a:avLst/>
          </a:prstGeom>
          <a:noFill/>
          <a:ln w="12700">
            <a:solidFill>
              <a:srgbClr val="B83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Progress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8D5EA"/>
                </a:solidFill>
              </a:rPr>
              <a:t>XP, ranks, streaks, profile charts and badges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13232" y="349300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721608"/>
            <a:ext cx="0" cy="585216"/>
          </a:xfrm>
          <a:prstGeom prst="line">
            <a:avLst/>
          </a:prstGeom>
          <a:noFill/>
          <a:ln w="12700">
            <a:solidFill>
              <a:srgbClr val="1BB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6941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Competition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0050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8D5EA"/>
                </a:solidFill>
              </a:rPr>
              <a:t>1v1, random 1v1, free-for-all and battle records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462272" y="349300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721608"/>
            <a:ext cx="0" cy="585216"/>
          </a:xfrm>
          <a:prstGeom prst="line">
            <a:avLst/>
          </a:prstGeom>
          <a:noFill/>
          <a:ln w="1270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6941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40050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8D5EA"/>
                </a:solidFill>
              </a:rPr>
              <a:t>Squads, member lists and squad leaderboard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211312" y="349300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3721608"/>
            <a:ext cx="0" cy="585216"/>
          </a:xfrm>
          <a:prstGeom prst="line">
            <a:avLst/>
          </a:prstGeom>
          <a:noFill/>
          <a:ln w="12700">
            <a:solidFill>
              <a:srgbClr val="DA36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36941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5360" y="40050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8D5EA"/>
                </a:solidFill>
              </a:rPr>
              <a:t>Users, problems, test cases, submissions and analytics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Layered packages keep UI, business logic, SQL and judging responsibilities separate.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This is the central design argument for the project.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6446520" cy="4434840"/>
          </a:xfrm>
          <a:prstGeom prst="roundRect">
            <a:avLst>
              <a:gd name="adj" fmla="val 1649"/>
            </a:avLst>
          </a:prstGeom>
          <a:solidFill>
            <a:srgbClr val="FFF0DF"/>
          </a:solidFill>
          <a:ln w="12700">
            <a:solidFill>
              <a:srgbClr val="F3B26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8368" y="3726180"/>
            <a:ext cx="6446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160020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8E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40D"/>
                </a:solidFill>
              </a:rPr>
              <a:t>Package responsibilities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62672" y="244144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2395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140D"/>
                </a:solidFill>
              </a:rPr>
              <a:t>ui: JavaFX screens and navigation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662672" y="2825496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27797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140D"/>
                </a:solidFill>
              </a:rPr>
              <a:t>service: business rules and workflow coordination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662672" y="3209544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3163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140D"/>
                </a:solidFill>
              </a:rPr>
              <a:t>dao: SQL and SQLite access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662672" y="359359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35478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140D"/>
                </a:solidFill>
              </a:rPr>
              <a:t>model: domain entities and enums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662672" y="3977640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3931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140D"/>
                </a:solidFill>
              </a:rPr>
              <a:t>judge: local compile/run execution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662672" y="436168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43159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140D"/>
                </a:solidFill>
              </a:rPr>
              <a:t>util: session, persistence, XP and helpers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06</a:t>
            </a: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96362E-F2F8-767C-BB99-CC0F93130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31" y="2352306"/>
            <a:ext cx="6167402" cy="3159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DESIGN 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Domain and class diagrams show the object structure behind the application.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Models are backed by DAOs and coordinated through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0D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3474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A3633"/>
                </a:solidFill>
              </a:rPr>
              <a:t>Missing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0D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363474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A3633"/>
                </a:solidFill>
              </a:rPr>
              <a:t>Missing image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5925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Domain model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9632" y="5925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Class diagram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07</a:t>
            </a:r>
            <a:endParaRPr lang="en-US" sz="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687142-3AE1-4E2B-E800-559FD384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26400"/>
            <a:ext cx="5212081" cy="38452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69169F-5616-D5A9-EB8B-5A8EF4C0E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1761855"/>
            <a:ext cx="5030245" cy="40292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CDE8"/>
                </a:solidFill>
              </a:rPr>
              <a:t>DATABASE AND LOCAL JUDGE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Persistence and judging are local, reproducible and testable.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ED0"/>
                </a:solidFill>
              </a:rPr>
              <a:t>The application can recreate schema and seed data on startup.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574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C18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24871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5EA"/>
                </a:solidFill>
              </a:rPr>
              <a:t>User writes Java/Python code in editor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87752" y="2770632"/>
            <a:ext cx="347472" cy="0"/>
          </a:xfrm>
          <a:prstGeom prst="line">
            <a:avLst/>
          </a:prstGeom>
          <a:noFill/>
          <a:ln w="12700">
            <a:solidFill>
              <a:srgbClr val="F47C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87452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20574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DE8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36392" y="24871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36392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5EA"/>
                </a:solidFill>
              </a:rPr>
              <a:t>Submission object is stored via DAO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28032" y="2770632"/>
            <a:ext cx="347472" cy="0"/>
          </a:xfrm>
          <a:prstGeom prst="line">
            <a:avLst/>
          </a:prstGeom>
          <a:noFill/>
          <a:ln w="12700">
            <a:solidFill>
              <a:srgbClr val="18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87452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0574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32F6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76672" y="24871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5EA"/>
                </a:solidFill>
              </a:rPr>
              <a:t>Judge creates temp sandbox and runs tests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68312" y="2770632"/>
            <a:ext cx="347472" cy="0"/>
          </a:xfrm>
          <a:prstGeom prst="line">
            <a:avLst/>
          </a:prstGeom>
          <a:noFill/>
          <a:ln w="12700">
            <a:solidFill>
              <a:srgbClr val="B83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87452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20574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BF73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6952" y="24871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Verdict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16952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5EA"/>
                </a:solidFill>
              </a:rPr>
              <a:t>AC / WA / CE / RE / TLE result is saved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08592" y="2770632"/>
            <a:ext cx="347472" cy="0"/>
          </a:xfrm>
          <a:prstGeom prst="line">
            <a:avLst/>
          </a:prstGeom>
          <a:noFill/>
          <a:ln w="12700">
            <a:solidFill>
              <a:srgbClr val="1BBF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187452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57232" y="20574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47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57232" y="24871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Progress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57232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5EA"/>
                </a:solidFill>
              </a:rPr>
              <a:t>XP, badges and battle results are updated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" y="434340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111C3D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60857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8E5F0"/>
                </a:solidFill>
              </a:rPr>
              <a:t>SQLite data: users, problems, test cases, submissions, badges, battles, squads  |  Judge temp files live under OS temp and are cleaned after execution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USER INTERFACE SHOWCASE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The demo experience is visual: dashboard, profile analytics, admin tools and code execution.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Screenshots are taken from the current JavaFX application.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1490472"/>
            <a:ext cx="3694176" cy="2185416"/>
          </a:xfrm>
          <a:prstGeom prst="roundRect">
            <a:avLst>
              <a:gd name="adj" fmla="val 2092"/>
            </a:avLst>
          </a:prstGeom>
          <a:solidFill>
            <a:srgbClr val="FFFFFF">
              <a:alpha val="0"/>
            </a:srgbClr>
          </a:solidFill>
          <a:ln w="12700">
            <a:solidFill>
              <a:srgbClr val="F3B26D"/>
            </a:solidFill>
            <a:prstDash val="solid"/>
          </a:ln>
        </p:spPr>
      </p:sp>
      <p:pic>
        <p:nvPicPr>
          <p:cNvPr id="9" name="Image 0" descr="C:/Users/Fast Computer/Pictures/Screenshots/Screenshot 2026-05-07 13204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08760"/>
            <a:ext cx="3657600" cy="2148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25112" y="1490472"/>
            <a:ext cx="3694176" cy="2185416"/>
          </a:xfrm>
          <a:prstGeom prst="roundRect">
            <a:avLst>
              <a:gd name="adj" fmla="val 2092"/>
            </a:avLst>
          </a:prstGeom>
          <a:solidFill>
            <a:srgbClr val="FFFFFF">
              <a:alpha val="0"/>
            </a:srgbClr>
          </a:solidFill>
          <a:ln w="12700">
            <a:solidFill>
              <a:srgbClr val="F3B26D"/>
            </a:solidFill>
            <a:prstDash val="solid"/>
          </a:ln>
        </p:spPr>
      </p:sp>
      <p:pic>
        <p:nvPicPr>
          <p:cNvPr id="11" name="Image 1" descr="C:/Users/Fast Computer/Pictures/Screenshots/Screenshot 2026-05-07 13324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508760"/>
            <a:ext cx="3657600" cy="2148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65592" y="1490472"/>
            <a:ext cx="3465576" cy="2185416"/>
          </a:xfrm>
          <a:prstGeom prst="roundRect">
            <a:avLst>
              <a:gd name="adj" fmla="val 2092"/>
            </a:avLst>
          </a:prstGeom>
          <a:solidFill>
            <a:srgbClr val="FFFFFF">
              <a:alpha val="0"/>
            </a:srgbClr>
          </a:solidFill>
          <a:ln w="12700">
            <a:solidFill>
              <a:srgbClr val="F3B26D"/>
            </a:solidFill>
            <a:prstDash val="solid"/>
          </a:ln>
        </p:spPr>
      </p:sp>
      <p:pic>
        <p:nvPicPr>
          <p:cNvPr id="13" name="Image 2" descr="C:/Users/Fast Computer/Pictures/Screenshots/Screenshot 2026-05-07 07574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3880" y="1508760"/>
            <a:ext cx="3429000" cy="2148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" y="3730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Coder dashboard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4370832" y="3730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Profile performance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211312" y="3730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Code editor and judge output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1901952" y="4142232"/>
            <a:ext cx="4059936" cy="1636776"/>
          </a:xfrm>
          <a:prstGeom prst="roundRect">
            <a:avLst>
              <a:gd name="adj" fmla="val 279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3B26D"/>
            </a:solidFill>
            <a:prstDash val="solid"/>
          </a:ln>
        </p:spPr>
      </p:sp>
      <p:pic>
        <p:nvPicPr>
          <p:cNvPr id="18" name="Image 3" descr="C:/Users/Fast Computer/Pictures/Screenshots/Screenshot 2026-05-07 08081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20240" y="4160520"/>
            <a:ext cx="4023360" cy="1600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45352" y="4142232"/>
            <a:ext cx="4059936" cy="1636776"/>
          </a:xfrm>
          <a:prstGeom prst="roundRect">
            <a:avLst>
              <a:gd name="adj" fmla="val 279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3B26D"/>
            </a:solidFill>
            <a:prstDash val="solid"/>
          </a:ln>
        </p:spPr>
      </p:sp>
      <p:pic>
        <p:nvPicPr>
          <p:cNvPr id="20" name="Image 4" descr="D:/CodeArena/src/main/resources/images/title_scree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63640" y="4160520"/>
            <a:ext cx="4023360" cy="1600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38528" y="5824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Admin panel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6281928" y="5824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6513A"/>
                </a:solidFill>
              </a:rPr>
              <a:t>Splash screen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CDE8"/>
                </a:solidFill>
              </a:rPr>
              <a:t>PROGRESS AND COMPETITION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The application turns solving into a visible progression loop.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ED0"/>
                </a:solidFill>
              </a:rPr>
              <a:t>Badges, XP, ranks and battles make the system more than a basic judge.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" y="1554480"/>
            <a:ext cx="5294376" cy="3008376"/>
          </a:xfrm>
          <a:prstGeom prst="roundRect">
            <a:avLst>
              <a:gd name="adj" fmla="val 1520"/>
            </a:avLst>
          </a:prstGeom>
          <a:solidFill>
            <a:srgbClr val="FFFFFF">
              <a:alpha val="0"/>
            </a:srgbClr>
          </a:solidFill>
          <a:ln w="12700">
            <a:solidFill>
              <a:srgbClr val="28466E"/>
            </a:solidFill>
            <a:prstDash val="solid"/>
          </a:ln>
        </p:spPr>
      </p:sp>
      <p:pic>
        <p:nvPicPr>
          <p:cNvPr id="10" name="Image 0" descr="C:/Users/Fast Computer/Pictures/Screenshots/Screenshot 2026-05-07 1332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72768"/>
            <a:ext cx="5257800" cy="2971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1572768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Progress loop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720840" y="244144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23957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8E5F0"/>
                </a:solidFill>
              </a:rPr>
              <a:t>Solve problems to earn XP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6720840" y="2834640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3720" y="2788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8E5F0"/>
                </a:solidFill>
              </a:rPr>
              <a:t>Accepted verdicts unlock badges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720840" y="322783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8E5F0"/>
                </a:solidFill>
              </a:rPr>
              <a:t>Battle wins update records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720840" y="3621024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35753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8E5F0"/>
                </a:solidFill>
              </a:rPr>
              <a:t>Squad XP creates team competition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720840" y="4014216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8E5F0"/>
                </a:solidFill>
              </a:rPr>
              <a:t>Profile charts make progress visible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914400" y="5102352"/>
            <a:ext cx="0" cy="658368"/>
          </a:xfrm>
          <a:prstGeom prst="line">
            <a:avLst/>
          </a:prstGeom>
          <a:noFill/>
          <a:ln w="12700">
            <a:solidFill>
              <a:srgbClr val="F47C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5074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XP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060704" y="54223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rank progress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60704" y="55961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Novice to higher ranks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743200" y="5102352"/>
            <a:ext cx="0" cy="658368"/>
          </a:xfrm>
          <a:prstGeom prst="line">
            <a:avLst/>
          </a:prstGeom>
          <a:noFill/>
          <a:ln w="12700">
            <a:solidFill>
              <a:srgbClr val="18CD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89504" y="5074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Badges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2889504" y="54223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achievements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889504" y="55961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skill milestones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572000" y="5102352"/>
            <a:ext cx="0" cy="658368"/>
          </a:xfrm>
          <a:prstGeom prst="line">
            <a:avLst/>
          </a:prstGeom>
          <a:noFill/>
          <a:ln w="12700">
            <a:solidFill>
              <a:srgbClr val="B83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18304" y="5074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Battles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4718304" y="54223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arena record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18304" y="55961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wins / losses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6400800" y="5102352"/>
            <a:ext cx="0" cy="658368"/>
          </a:xfrm>
          <a:prstGeom prst="line">
            <a:avLst/>
          </a:prstGeom>
          <a:noFill/>
          <a:ln w="12700">
            <a:solidFill>
              <a:srgbClr val="1BBF7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47104" y="5074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Squads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547104" y="54223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D5EA"/>
                </a:solidFill>
              </a:rPr>
              <a:t>team layer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547104" y="55961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1A4C4"/>
                </a:solidFill>
              </a:rPr>
              <a:t>combined XP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ADMIN PANEL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Admins control the content and moderation layer of the arena.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This is a major use case beyond login/register.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1490472"/>
            <a:ext cx="5522976" cy="3968496"/>
          </a:xfrm>
          <a:prstGeom prst="roundRect">
            <a:avLst>
              <a:gd name="adj" fmla="val 1152"/>
            </a:avLst>
          </a:prstGeom>
          <a:solidFill>
            <a:srgbClr val="FFFFFF">
              <a:alpha val="0"/>
            </a:srgbClr>
          </a:solidFill>
          <a:ln w="12700">
            <a:solidFill>
              <a:srgbClr val="F3B26D"/>
            </a:solidFill>
            <a:prstDash val="solid"/>
          </a:ln>
        </p:spPr>
      </p:sp>
      <p:pic>
        <p:nvPicPr>
          <p:cNvPr id="9" name="Image 0" descr="C:/Users/Fast Computer/Pictures/Screenshots/Screenshot 2026-05-07 0808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508760"/>
            <a:ext cx="5486400" cy="3931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1508760"/>
            <a:ext cx="4434840" cy="3931920"/>
          </a:xfrm>
          <a:prstGeom prst="roundRect">
            <a:avLst>
              <a:gd name="adj" fmla="val 1860"/>
            </a:avLst>
          </a:prstGeom>
          <a:solidFill>
            <a:srgbClr val="FFF8E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40D"/>
                </a:solidFill>
              </a:rPr>
              <a:t>Admin capabilities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58000" y="240487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23591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View and ban/unban users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858000" y="2788920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Create, edit and delete problems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858000" y="3172968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Manage sample and hidden test cases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858000" y="3557016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35112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Review and delete submissions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858000" y="3941064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0" y="38953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View analytics and success rates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858000" y="432511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2793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Switch back to coder dashboard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CDE8"/>
                </a:solidFill>
              </a:rPr>
              <a:t>TESTING AND VALIDATION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Automated tests protect the critical backend behavior.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ED0"/>
                </a:solidFill>
              </a:rPr>
              <a:t>The tests use a separate SQLite database and do not touch the demo database.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4708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C18"/>
                </a:solidFill>
              </a:rPr>
              <a:t>ServiceIntegrationTest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0128" y="182880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Auth, filters, admin validation, badges, progress, squads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51460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7004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C18"/>
                </a:solidFill>
              </a:rPr>
              <a:t>JudgeEngineIntegrationTest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265176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Java AC/WA/CE/RE/TLE, Python checks, sandbox cleanup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333756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49300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C18"/>
                </a:solidFill>
              </a:rPr>
              <a:t>PersistenceInitializationTest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347472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Fresh database schema + seed loading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0B1430"/>
          </a:solidFill>
          <a:ln w="12700">
            <a:solidFill>
              <a:srgbClr val="28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1596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C18"/>
                </a:solidFill>
              </a:rPr>
              <a:t>TestDatabase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429768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5F0"/>
                </a:solidFill>
              </a:rPr>
              <a:t>Shared reset helper using target/test-data/codearena-test.db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5257800"/>
            <a:ext cx="10378440" cy="530352"/>
          </a:xfrm>
          <a:prstGeom prst="roundRect">
            <a:avLst>
              <a:gd name="adj" fmla="val 13793"/>
            </a:avLst>
          </a:prstGeom>
          <a:solidFill>
            <a:srgbClr val="111C3D"/>
          </a:solidFill>
          <a:ln w="12700">
            <a:solidFill>
              <a:srgbClr val="1BB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431536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Verification command: mvn -q test  |  Latest suite passed during final project cleanup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2"/>
          </a:solidFill>
          <a:ln w="12700">
            <a:solidFill>
              <a:srgbClr val="FFF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194560"/>
            <a:ext cx="5943600" cy="5943600"/>
          </a:xfrm>
          <a:prstGeom prst="ellipse">
            <a:avLst/>
          </a:prstGeom>
          <a:noFill/>
          <a:ln w="12700">
            <a:solidFill>
              <a:srgbClr val="F3B26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E7C9">
              <a:alpha val="75000"/>
            </a:srgbClr>
          </a:solidFill>
          <a:ln w="12700">
            <a:solidFill>
              <a:srgbClr val="FFE7C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C18"/>
                </a:solidFill>
              </a:rPr>
              <a:t>LIVE DEMO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1140D"/>
                </a:solidFill>
              </a:rPr>
              <a:t>A clean demo should follow the user journey, then show admin control.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6513A"/>
                </a:solidFill>
              </a:rPr>
              <a:t>Recommended route: 7 minutes plus questions.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07592" y="1636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Splash screen -&gt; Login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24128" y="190195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031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0759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Coder dashboard overview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24128" y="240487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060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07592" y="26426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Browse problem and open detail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24128" y="290779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07592" y="3145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Run sample code in editor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24128" y="341071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11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07592" y="36484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Submit and inspect verdict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24128" y="391363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148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07592" y="41513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Open profile charts and badges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24128" y="441655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17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07592" y="4654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Show battle/squad screen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24128" y="4919472"/>
            <a:ext cx="0" cy="22860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1206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C18"/>
                </a:solidFill>
              </a:rPr>
              <a:t>08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307592" y="51572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1140D"/>
                </a:solidFill>
              </a:rPr>
              <a:t>Switch to admin panel and manage data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160020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FFF8EF"/>
          </a:solidFill>
          <a:ln w="12700">
            <a:solidFill>
              <a:srgbClr val="F3B2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40D"/>
                </a:solidFill>
              </a:rPr>
              <a:t>Presentation tip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31152" y="249631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4505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Do not spend too long on login/register.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931152" y="295351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9077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Focus on judge, profile progress, battles, admin and tests.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931152" y="3410712"/>
            <a:ext cx="82296" cy="82296"/>
          </a:xfrm>
          <a:prstGeom prst="ellipse">
            <a:avLst/>
          </a:prstGeom>
          <a:solidFill>
            <a:srgbClr val="F47C18"/>
          </a:solidFill>
          <a:ln w="12700">
            <a:solidFill>
              <a:srgbClr val="F47C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336499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140D"/>
                </a:solidFill>
              </a:rPr>
              <a:t>Keep the report open only as backup evidence.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F3B2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513A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6513A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-1371600"/>
            <a:ext cx="5120640" cy="5120640"/>
          </a:xfrm>
          <a:prstGeom prst="ellipse">
            <a:avLst/>
          </a:prstGeom>
          <a:noFill/>
          <a:ln w="12700">
            <a:solidFill>
              <a:srgbClr val="F47C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0"/>
            <a:ext cx="3017520" cy="6858000"/>
          </a:xfrm>
          <a:prstGeom prst="rect">
            <a:avLst/>
          </a:prstGeom>
          <a:solidFill>
            <a:srgbClr val="11194A">
              <a:alpha val="80000"/>
            </a:srgbClr>
          </a:solidFill>
          <a:ln w="12700">
            <a:solidFill>
              <a:srgbClr val="1119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6217920"/>
            <a:ext cx="2377440" cy="0"/>
          </a:xfrm>
          <a:prstGeom prst="line">
            <a:avLst/>
          </a:prstGeom>
          <a:noFill/>
          <a:ln w="12700">
            <a:solidFill>
              <a:srgbClr val="F47C1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CDE8"/>
                </a:solidFill>
              </a:rPr>
              <a:t>SUBMISSION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69494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CodeArena is ready as a Software Design and Analysis project demo.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85216" y="1371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ED0"/>
                </a:solidFill>
              </a:rPr>
              <a:t>The application demonstrates implementation, design artifacts, documentation and testing.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47C18"/>
          </a:solidFill>
          <a:ln w="12700">
            <a:solidFill>
              <a:srgbClr val="F47C1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897380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Complete JavaFX desktop app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18CDE8"/>
          </a:solidFill>
          <a:ln w="12700">
            <a:solidFill>
              <a:srgbClr val="18CD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897380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Layered package architecture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47C18"/>
          </a:solidFill>
          <a:ln w="12700">
            <a:solidFill>
              <a:srgbClr val="F47C1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897380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SQLite persistence and seed setup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7240" y="254203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18CDE8"/>
          </a:solidFill>
          <a:ln w="12700">
            <a:solidFill>
              <a:srgbClr val="18CDE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610612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Local Java/Python judge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80560" y="254203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47C18"/>
          </a:solidFill>
          <a:ln w="12700">
            <a:solidFill>
              <a:srgbClr val="F47C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610612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Gamified profile and badges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183880" y="254203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18CDE8"/>
          </a:solidFill>
          <a:ln w="12700">
            <a:solidFill>
              <a:srgbClr val="18CD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2610612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Battles and squads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77240" y="3255264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47C18"/>
          </a:solidFill>
          <a:ln w="12700">
            <a:solidFill>
              <a:srgbClr val="F47C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23844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Admin panel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3255264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18CDE8"/>
          </a:solidFill>
          <a:ln w="12700">
            <a:solidFill>
              <a:srgbClr val="18CD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323844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JUnit tests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83880" y="3255264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F47C18"/>
          </a:solidFill>
          <a:ln w="12700">
            <a:solidFill>
              <a:srgbClr val="F47C1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3323844"/>
            <a:ext cx="28712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Word report and diagrams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77240" y="46177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04672" y="5102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5EA"/>
                </a:solidFill>
              </a:rPr>
              <a:t>Questions and demo walkthrough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2700">
            <a:solidFill>
              <a:srgbClr val="28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BED0"/>
                </a:solidFill>
              </a:rPr>
              <a:t>CodeArena | Software Design and Analysis Demo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7C1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1182</Words>
  <Application>Microsoft Office PowerPoint</Application>
  <PresentationFormat>Widescreen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CodeArena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CodeArena Demo Presentation</dc:title>
  <dc:subject>Software Design and Analysis Demo</dc:subject>
  <dc:creator>CodeArena Team</dc:creator>
  <cp:lastModifiedBy>User</cp:lastModifiedBy>
  <cp:revision>6</cp:revision>
  <dcterms:created xsi:type="dcterms:W3CDTF">2026-05-07T18:50:07Z</dcterms:created>
  <dcterms:modified xsi:type="dcterms:W3CDTF">2026-05-12T05:15:48Z</dcterms:modified>
</cp:coreProperties>
</file>